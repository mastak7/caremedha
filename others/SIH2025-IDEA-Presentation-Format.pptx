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 id="297" r:id="rId8"/>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946" y="120"/>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9/11/2025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83576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9/11/2025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9/11/2025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9/11/2025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9/11/2025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9/11/2025</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9/11/2025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9/11/2025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9/11/2025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9/11/2025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9/11/2025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9/11/2025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9/11/2025</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2025</a:t>
            </a:r>
            <a:endParaRPr lang="en-IN" sz="4000" b="1" dirty="0">
              <a:solidFill>
                <a:schemeClr val="tx2"/>
              </a:solidFill>
              <a:latin typeface="Garamond" panose="02020404030301010803" pitchFamily="18" charset="0"/>
            </a:endParaRPr>
          </a:p>
        </p:txBody>
      </p:sp>
      <p:sp>
        <p:nvSpPr>
          <p:cNvPr id="10" name="TextBox 9"/>
          <p:cNvSpPr txBox="1"/>
          <p:nvPr/>
        </p:nvSpPr>
        <p:spPr>
          <a:xfrm>
            <a:off x="331286" y="1619160"/>
            <a:ext cx="5924550" cy="4686668"/>
          </a:xfrm>
          <a:prstGeom prst="rect">
            <a:avLst/>
          </a:prstGeom>
          <a:noFill/>
        </p:spPr>
        <p:txBody>
          <a:bodyPr wrap="square" rtlCol="0">
            <a:spAutoFit/>
          </a:bodyPr>
          <a:lstStyle/>
          <a:p>
            <a:endParaRPr lang="en-US" dirty="0"/>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ID – 25018</a:t>
            </a:r>
          </a:p>
          <a:p>
            <a:pPr marL="285750" indent="-285750" algn="just">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Title- </a:t>
            </a:r>
            <a:r>
              <a:rPr lang="en-US" sz="2400" b="1" dirty="0"/>
              <a:t>Telemedicine Access for Rural Healthcare in Nabha</a:t>
            </a:r>
            <a:endParaRPr lang="en-US" sz="24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Theme- </a:t>
            </a:r>
            <a:r>
              <a:rPr lang="en-IN" sz="2400" b="1" dirty="0"/>
              <a:t>MedTech / </a:t>
            </a:r>
            <a:r>
              <a:rPr lang="en-IN" sz="2400" b="1" dirty="0" err="1"/>
              <a:t>BioTech</a:t>
            </a:r>
            <a:r>
              <a:rPr lang="en-IN" sz="2400" b="1" dirty="0"/>
              <a:t> / HealthTech</a:t>
            </a:r>
            <a:endParaRPr lang="en-US" sz="24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PS Category- Software</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ID –</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Name (Registered on Portal)</a:t>
            </a:r>
          </a:p>
        </p:txBody>
      </p:sp>
      <p:pic>
        <p:nvPicPr>
          <p:cNvPr id="1026" name="Picture 2" descr="https://www.sih.gov.in/img1/SIH-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1366" y="6297"/>
            <a:ext cx="2209120" cy="112286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C7CB5479-98DD-ECE7-E8FC-2B3D5B70EAE6}"/>
              </a:ext>
            </a:extLst>
          </p:cNvPr>
          <p:cNvPicPr>
            <a:picLocks noChangeAspect="1"/>
          </p:cNvPicPr>
          <p:nvPr/>
        </p:nvPicPr>
        <p:blipFill>
          <a:blip r:embed="rId3"/>
          <a:stretch>
            <a:fillRect/>
          </a:stretch>
        </p:blipFill>
        <p:spPr>
          <a:xfrm>
            <a:off x="6946009" y="1899450"/>
            <a:ext cx="4548808" cy="2905760"/>
          </a:xfrm>
          <a:prstGeom prst="rect">
            <a:avLst/>
          </a:prstGeom>
        </p:spPr>
      </p:pic>
      <p:sp>
        <p:nvSpPr>
          <p:cNvPr id="12" name="TextBox 11">
            <a:extLst>
              <a:ext uri="{FF2B5EF4-FFF2-40B4-BE49-F238E27FC236}">
                <a16:creationId xmlns:a16="http://schemas.microsoft.com/office/drawing/2014/main" id="{57147E8A-CBA0-B19E-14AF-8BFC429C13AD}"/>
              </a:ext>
            </a:extLst>
          </p:cNvPr>
          <p:cNvSpPr txBox="1"/>
          <p:nvPr/>
        </p:nvSpPr>
        <p:spPr>
          <a:xfrm>
            <a:off x="6988563" y="5100870"/>
            <a:ext cx="4758737" cy="646331"/>
          </a:xfrm>
          <a:prstGeom prst="rect">
            <a:avLst/>
          </a:prstGeom>
          <a:noFill/>
        </p:spPr>
        <p:txBody>
          <a:bodyPr wrap="square" rtlCol="0">
            <a:spAutoFit/>
          </a:bodyPr>
          <a:lstStyle/>
          <a:p>
            <a:r>
              <a:rPr lang="en-US" dirty="0"/>
              <a:t>A tight screenshot strip (triage chat in Punjabi + doctor slots + pharmacy search).</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15362" name="TextBox 8"/>
          <p:cNvSpPr txBox="1">
            <a:spLocks noChangeArrowheads="1"/>
          </p:cNvSpPr>
          <p:nvPr/>
        </p:nvSpPr>
        <p:spPr bwMode="auto">
          <a:xfrm>
            <a:off x="568961" y="4688690"/>
            <a:ext cx="10708640" cy="1092607"/>
          </a:xfrm>
          <a:prstGeom prst="rect">
            <a:avLst/>
          </a:prstGeom>
          <a:noFill/>
          <a:ln w="9525">
            <a:noFill/>
            <a:miter lim="800000"/>
            <a:headEnd/>
            <a:tailEnd/>
          </a:ln>
        </p:spPr>
        <p:txBody>
          <a:bodyPr wrap="square">
            <a:spAutoFit/>
          </a:bodyPr>
          <a:lstStyle/>
          <a:p>
            <a:pPr marL="342900" indent="-342900">
              <a:buFont typeface="Wingdings" panose="05000000000000000000" pitchFamily="2" charset="2"/>
              <a:buChar char="v"/>
            </a:pPr>
            <a:r>
              <a:rPr lang="en-US" sz="1200" b="1" u="sng" dirty="0">
                <a:solidFill>
                  <a:schemeClr val="tx2"/>
                </a:solidFill>
                <a:latin typeface="Arial" pitchFamily="34" charset="0"/>
                <a:cs typeface="Arial" pitchFamily="34" charset="0"/>
              </a:rPr>
              <a:t>Proposed Solution (Describe your Idea/Solution/Prototype)</a:t>
            </a:r>
            <a:endParaRPr lang="en-US" sz="1200" u="sng" dirty="0">
              <a:solidFill>
                <a:schemeClr val="tx2"/>
              </a:solidFill>
              <a:latin typeface="Arial" pitchFamily="34" charset="0"/>
              <a:cs typeface="Arial" pitchFamily="34" charset="0"/>
            </a:endParaRPr>
          </a:p>
          <a:p>
            <a:pPr marL="342900" indent="-342900">
              <a:buFont typeface="Arial" panose="020B0604020202020204" pitchFamily="34" charset="0"/>
              <a:buChar char="•"/>
            </a:pPr>
            <a:endParaRPr lang="en-US" sz="1000" u="sng" dirty="0">
              <a:solidFill>
                <a:schemeClr val="tx2"/>
              </a:solidFill>
              <a:latin typeface="Arial" pitchFamily="34" charset="0"/>
              <a:cs typeface="Arial" pitchFamily="34" charset="0"/>
            </a:endParaRPr>
          </a:p>
          <a:p>
            <a:pPr marL="342900" indent="-342900">
              <a:buFont typeface="Arial" panose="020B0604020202020204" pitchFamily="34" charset="0"/>
              <a:buChar char="•"/>
            </a:pPr>
            <a:endParaRPr lang="en-US" sz="1000" u="sng" dirty="0">
              <a:solidFill>
                <a:schemeClr val="tx2"/>
              </a:solidFill>
              <a:latin typeface="Arial" pitchFamily="34" charset="0"/>
              <a:cs typeface="Arial" pitchFamily="34" charset="0"/>
            </a:endParaRPr>
          </a:p>
          <a:p>
            <a:pPr marL="342900" indent="-342900" algn="just">
              <a:buFont typeface="Arial" panose="020B0604020202020204" pitchFamily="34" charset="0"/>
              <a:buChar char="•"/>
            </a:pPr>
            <a:r>
              <a:rPr lang="en-US" sz="1100" dirty="0">
                <a:latin typeface="Arial" pitchFamily="34" charset="0"/>
                <a:cs typeface="Arial" pitchFamily="34" charset="0"/>
              </a:rPr>
              <a:t>Detailed explanation of the proposed solution</a:t>
            </a:r>
          </a:p>
          <a:p>
            <a:pPr marL="342900" indent="-342900" algn="just">
              <a:buFont typeface="Arial" panose="020B0604020202020204" pitchFamily="34" charset="0"/>
              <a:buChar char="•"/>
            </a:pPr>
            <a:r>
              <a:rPr lang="en-US" sz="1100" dirty="0">
                <a:latin typeface="Arial" pitchFamily="34" charset="0"/>
                <a:cs typeface="Arial" pitchFamily="34" charset="0"/>
              </a:rPr>
              <a:t> How it addresses the problem</a:t>
            </a:r>
          </a:p>
          <a:p>
            <a:pPr marL="342900" indent="-342900" algn="just">
              <a:buFont typeface="Arial" panose="020B0604020202020204" pitchFamily="34" charset="0"/>
              <a:buChar char="•"/>
            </a:pPr>
            <a:r>
              <a:rPr lang="en-US" sz="1100" dirty="0">
                <a:latin typeface="Arial" pitchFamily="34" charset="0"/>
                <a:cs typeface="Arial" pitchFamily="34" charset="0"/>
              </a:rPr>
              <a:t>Innovation and uniqueness of the solution </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2"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9AA49BC-2261-5C4F-C83A-4D42257F621E}"/>
              </a:ext>
            </a:extLst>
          </p:cNvPr>
          <p:cNvSpPr txBox="1"/>
          <p:nvPr/>
        </p:nvSpPr>
        <p:spPr>
          <a:xfrm>
            <a:off x="568960" y="1623006"/>
            <a:ext cx="10972800" cy="2862322"/>
          </a:xfrm>
          <a:prstGeom prst="rect">
            <a:avLst/>
          </a:prstGeom>
          <a:noFill/>
        </p:spPr>
        <p:txBody>
          <a:bodyPr wrap="square" rtlCol="0">
            <a:spAutoFit/>
          </a:bodyPr>
          <a:lstStyle/>
          <a:p>
            <a:r>
              <a:rPr lang="en-US" dirty="0"/>
              <a:t>Our solution is an </a:t>
            </a:r>
            <a:r>
              <a:rPr lang="en-US" b="1" dirty="0"/>
              <a:t>AI-assisted rural healthcare platform</a:t>
            </a:r>
            <a:r>
              <a:rPr lang="en-US" dirty="0"/>
              <a:t> that connects the full chain — triage, doctor booking, pharmacy, emergency, and telecommunication.</a:t>
            </a:r>
          </a:p>
          <a:p>
            <a:r>
              <a:rPr lang="en-US" dirty="0"/>
              <a:t>The </a:t>
            </a:r>
            <a:r>
              <a:rPr lang="en-US" b="1" dirty="0"/>
              <a:t>AI triage</a:t>
            </a:r>
            <a:r>
              <a:rPr lang="en-US" dirty="0"/>
              <a:t> guides patients in Punjabi or English on whether they need self-care, a doctor, or urgent help — even over SMS or voice.</a:t>
            </a:r>
          </a:p>
          <a:p>
            <a:r>
              <a:rPr lang="en-US" b="1" dirty="0"/>
              <a:t>Smart booking and teleconsultation</a:t>
            </a:r>
            <a:r>
              <a:rPr lang="en-US" dirty="0"/>
              <a:t> ensure patients reach the right doctor, with video calls that drop to voice if bandwidth is low, and doctors manage their own queues.</a:t>
            </a:r>
          </a:p>
          <a:p>
            <a:r>
              <a:rPr lang="en-US" dirty="0"/>
              <a:t>With </a:t>
            </a:r>
            <a:r>
              <a:rPr lang="en-US" b="1" dirty="0"/>
              <a:t>pharmacy integration</a:t>
            </a:r>
            <a:r>
              <a:rPr lang="en-US" dirty="0"/>
              <a:t>, patients know where medicines are in stock, and fraud-safe e-prescriptions are sent directly to patient and pharmacy.</a:t>
            </a:r>
          </a:p>
          <a:p>
            <a:r>
              <a:rPr lang="en-US" dirty="0"/>
              <a:t>For emergencies, we route the safest and fastest path, including volunteers.</a:t>
            </a:r>
          </a:p>
          <a:p>
            <a:r>
              <a:rPr lang="en-US" dirty="0"/>
              <a:t>Unlike urban apps, we are </a:t>
            </a:r>
            <a:r>
              <a:rPr lang="en-US" b="1" dirty="0"/>
              <a:t>offline-first, multilingual, and community-led</a:t>
            </a:r>
            <a:r>
              <a:rPr lang="en-US" dirty="0"/>
              <a:t> — designed for villages like Nabha.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487680" y="5389879"/>
            <a:ext cx="8950960" cy="584775"/>
          </a:xfrm>
          <a:prstGeom prst="rect">
            <a:avLst/>
          </a:prstGeom>
          <a:noFill/>
          <a:ln w="9525">
            <a:noFill/>
            <a:miter lim="800000"/>
            <a:headEnd/>
            <a:tailEnd/>
          </a:ln>
        </p:spPr>
        <p:txBody>
          <a:bodyPr wrap="square">
            <a:spAutoFit/>
          </a:bodyPr>
          <a:lstStyle/>
          <a:p>
            <a:pPr marL="342900" indent="-342900" algn="just">
              <a:buFont typeface="Arial" panose="020B0604020202020204" pitchFamily="34" charset="0"/>
              <a:buChar char="•"/>
            </a:pPr>
            <a:r>
              <a:rPr lang="en-US" sz="1600" dirty="0">
                <a:latin typeface="Arial" pitchFamily="34" charset="0"/>
                <a:cs typeface="Arial" pitchFamily="34" charset="0"/>
              </a:rPr>
              <a:t>Technologies to be used (e.g. programming languages, frameworks, hardware)</a:t>
            </a:r>
          </a:p>
          <a:p>
            <a:pPr marL="342900" indent="-342900" algn="just">
              <a:buFont typeface="Arial" panose="020B0604020202020204" pitchFamily="34" charset="0"/>
              <a:buChar char="•"/>
            </a:pPr>
            <a:r>
              <a:rPr lang="en-US" sz="1600" dirty="0">
                <a:latin typeface="Arial" pitchFamily="34" charset="0"/>
                <a:cs typeface="Arial" pitchFamily="34" charset="0"/>
              </a:rPr>
              <a:t>Methodology and process for implementation (Flow Charts/Images/ working prototype)</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784A1B3-01AC-F7C6-8875-ADE68EE2873B}"/>
              </a:ext>
            </a:extLst>
          </p:cNvPr>
          <p:cNvSpPr txBox="1"/>
          <p:nvPr/>
        </p:nvSpPr>
        <p:spPr>
          <a:xfrm>
            <a:off x="1158240" y="1206209"/>
            <a:ext cx="10099040" cy="3416320"/>
          </a:xfrm>
          <a:prstGeom prst="rect">
            <a:avLst/>
          </a:prstGeom>
          <a:noFill/>
        </p:spPr>
        <p:txBody>
          <a:bodyPr wrap="square">
            <a:spAutoFit/>
          </a:bodyPr>
          <a:lstStyle/>
          <a:p>
            <a:pPr>
              <a:buNone/>
            </a:pPr>
            <a:r>
              <a:rPr lang="en-US" dirty="0"/>
              <a:t>On the technology side, we’re building this as a </a:t>
            </a:r>
            <a:r>
              <a:rPr lang="en-US" b="1" dirty="0"/>
              <a:t>progressive web app in React and Tailwind</a:t>
            </a:r>
            <a:r>
              <a:rPr lang="en-US" dirty="0"/>
              <a:t>, so it works smoothly on low-end phones and in multiple languages.</a:t>
            </a:r>
          </a:p>
          <a:p>
            <a:pPr>
              <a:buNone/>
            </a:pPr>
            <a:r>
              <a:rPr lang="en-US" dirty="0"/>
              <a:t>The backend is </a:t>
            </a:r>
            <a:r>
              <a:rPr lang="en-US" b="1" dirty="0"/>
              <a:t>Node.js with Express</a:t>
            </a:r>
            <a:r>
              <a:rPr lang="en-US" dirty="0"/>
              <a:t>, connected to a </a:t>
            </a:r>
            <a:r>
              <a:rPr lang="en-US" b="1" dirty="0"/>
              <a:t>PostgreSQL database</a:t>
            </a:r>
            <a:r>
              <a:rPr lang="en-US" dirty="0"/>
              <a:t> for patients, triage, slots, pharmacies, and ABHA records.</a:t>
            </a:r>
          </a:p>
          <a:p>
            <a:pPr>
              <a:buNone/>
            </a:pPr>
            <a:r>
              <a:rPr lang="en-US" dirty="0"/>
              <a:t>For teleconsultation, we use </a:t>
            </a:r>
            <a:r>
              <a:rPr lang="en-US" b="1" dirty="0"/>
              <a:t>WebRTC with smart fallback</a:t>
            </a:r>
            <a:r>
              <a:rPr lang="en-US" dirty="0"/>
              <a:t> — starting with video, dropping to voice, and finally to chat if bandwidth is weak.</a:t>
            </a:r>
          </a:p>
          <a:p>
            <a:pPr>
              <a:buNone/>
            </a:pPr>
            <a:r>
              <a:rPr lang="en-US" dirty="0"/>
              <a:t>Offline connectivity is supported through </a:t>
            </a:r>
            <a:r>
              <a:rPr lang="en-US" b="1" dirty="0"/>
              <a:t>SMS, USSD, and IVR gateways</a:t>
            </a:r>
            <a:r>
              <a:rPr lang="en-US" dirty="0"/>
              <a:t>, with store-and-forward syncing when the network returns.</a:t>
            </a:r>
          </a:p>
          <a:p>
            <a:pPr>
              <a:buNone/>
            </a:pPr>
            <a:r>
              <a:rPr lang="en-US" dirty="0"/>
              <a:t>The AI layer combines </a:t>
            </a:r>
            <a:r>
              <a:rPr lang="en-US" b="1" dirty="0"/>
              <a:t>rules and lightweight LLMs</a:t>
            </a:r>
            <a:r>
              <a:rPr lang="en-US" dirty="0"/>
              <a:t> to assign severity and specialty scores, and risky cases are always flagged for </a:t>
            </a:r>
            <a:r>
              <a:rPr lang="en-US" b="1" dirty="0"/>
              <a:t>human review</a:t>
            </a:r>
            <a:r>
              <a:rPr lang="en-US" dirty="0"/>
              <a:t>.</a:t>
            </a:r>
          </a:p>
          <a:p>
            <a:pPr>
              <a:buNone/>
            </a:pPr>
            <a:r>
              <a:rPr lang="en-US" dirty="0"/>
              <a:t>Finally, everything is built with </a:t>
            </a:r>
            <a:r>
              <a:rPr lang="en-US" b="1" dirty="0"/>
              <a:t>end-to-end encryption, role-based access, and ABHA-ready consent logs</a:t>
            </a:r>
            <a:r>
              <a:rPr lang="en-US" dirty="0"/>
              <a:t>, so the system is both safe and scalable.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456066" y="5278069"/>
            <a:ext cx="9385300" cy="738664"/>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1400" dirty="0">
                <a:solidFill>
                  <a:prstClr val="black"/>
                </a:solidFill>
                <a:latin typeface="Arial" pitchFamily="34" charset="0"/>
                <a:cs typeface="Arial" pitchFamily="34" charset="0"/>
              </a:rPr>
              <a:t>Analysis of the feasibility of the idea</a:t>
            </a:r>
            <a:endParaRPr kumimoji="0" lang="en-US" sz="14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1400" dirty="0">
                <a:solidFill>
                  <a:prstClr val="black"/>
                </a:solidFill>
                <a:latin typeface="Arial" pitchFamily="34" charset="0"/>
                <a:cs typeface="Arial" pitchFamily="34" charset="0"/>
              </a:rPr>
              <a:t>Potential challenges and risks</a:t>
            </a: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Strategies</a:t>
            </a:r>
            <a:r>
              <a:rPr kumimoji="0" lang="en-US" sz="1400" b="0" i="0" u="none" strike="noStrike" kern="1200" cap="none" spc="0" normalizeH="0" noProof="0" dirty="0">
                <a:ln>
                  <a:noFill/>
                </a:ln>
                <a:solidFill>
                  <a:prstClr val="black"/>
                </a:solidFill>
                <a:effectLst/>
                <a:uLnTx/>
                <a:uFillTx/>
                <a:latin typeface="Arial" pitchFamily="34" charset="0"/>
                <a:ea typeface="ＭＳ Ｐゴシック" pitchFamily="1" charset="-128"/>
                <a:cs typeface="Arial" pitchFamily="34" charset="0"/>
              </a:rPr>
              <a:t> for overcoming these challenges</a:t>
            </a:r>
            <a:endParaRPr kumimoji="0" lang="en-US" sz="14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E3B96D5-8AC2-E958-7525-EFBEAE1F67F3}"/>
              </a:ext>
            </a:extLst>
          </p:cNvPr>
          <p:cNvSpPr txBox="1"/>
          <p:nvPr/>
        </p:nvSpPr>
        <p:spPr>
          <a:xfrm>
            <a:off x="1085640" y="1239151"/>
            <a:ext cx="10496760" cy="3416320"/>
          </a:xfrm>
          <a:prstGeom prst="rect">
            <a:avLst/>
          </a:prstGeom>
          <a:noFill/>
        </p:spPr>
        <p:txBody>
          <a:bodyPr wrap="square">
            <a:spAutoFit/>
          </a:bodyPr>
          <a:lstStyle/>
          <a:p>
            <a:pPr>
              <a:buNone/>
            </a:pPr>
            <a:r>
              <a:rPr lang="en-US" dirty="0"/>
              <a:t>We believe our solution is both feasible and sustainable. Technically, it works even in low-connectivity areas through SMS, IVR, and video calls that fall back to voice. It’s aligned with ABHA and national telemedicine guidelines, and we’ve kept the doctor and pharmacy side very simple with easy dashboards and zero-effort onboarding.</a:t>
            </a:r>
          </a:p>
          <a:p>
            <a:pPr>
              <a:buNone/>
            </a:pPr>
            <a:r>
              <a:rPr lang="en-US" dirty="0"/>
              <a:t>On the viability side, we’ve built a sustainable model. The government funds the rollout and gets real-time health dashboards. Pharmacies and small clinics pay a small subscription for analytics and badges. Patients contribute optional micro-fees — like one rupee for triage or five for booking — which are waived for the poorest through CSR or state support. Doctors also get honoraria or modest tele-consult fees, with quick weekly payouts.</a:t>
            </a:r>
          </a:p>
          <a:p>
            <a:pPr>
              <a:buNone/>
            </a:pPr>
            <a:r>
              <a:rPr lang="en-US" dirty="0"/>
              <a:t>Of course, there are risks like poor connectivity, low literacy, or fraud — but we’ve planned mitigations: offline-first design, Punjabi voice support with ASHAs, strict verification, and human oversight on AI. That makes the solution not just possible, but practical and scalable.</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213360" y="5408933"/>
            <a:ext cx="9385300" cy="523220"/>
          </a:xfrm>
          <a:prstGeom prst="rect">
            <a:avLst/>
          </a:prstGeom>
          <a:noFill/>
          <a:ln w="9525">
            <a:noFill/>
            <a:miter lim="800000"/>
            <a:headEnd/>
            <a:tailEnd/>
          </a:ln>
        </p:spPr>
        <p:txBody>
          <a:bodyPr wrap="square">
            <a:spAutoFit/>
          </a:bodyPr>
          <a:lstStyle/>
          <a:p>
            <a:pPr marL="342900" lvl="0" indent="-342900" algn="just">
              <a:buFont typeface="Arial" panose="020B0604020202020204" pitchFamily="34" charset="0"/>
              <a:buChar char="•"/>
              <a:defRPr/>
            </a:pPr>
            <a:r>
              <a:rPr lang="en-US" sz="1400" dirty="0">
                <a:solidFill>
                  <a:prstClr val="black"/>
                </a:solidFill>
                <a:latin typeface="Arial" pitchFamily="34" charset="0"/>
                <a:cs typeface="Arial" pitchFamily="34" charset="0"/>
              </a:rPr>
              <a:t>Potential impact on the target audience</a:t>
            </a:r>
          </a:p>
          <a:p>
            <a:pPr marL="342900" lvl="0" indent="-342900" algn="just">
              <a:buFont typeface="Arial" panose="020B0604020202020204" pitchFamily="34" charset="0"/>
              <a:buChar char="•"/>
              <a:defRPr/>
            </a:pPr>
            <a:r>
              <a:rPr lang="en-US" sz="1400" dirty="0">
                <a:solidFill>
                  <a:prstClr val="black"/>
                </a:solidFill>
                <a:latin typeface="Arial" pitchFamily="34" charset="0"/>
                <a:cs typeface="Arial" pitchFamily="34" charset="0"/>
              </a:rPr>
              <a:t>Benefits of the solution (social, economic, environmental, etc.)</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5E0E36D-D65F-3F31-D84A-EE3CF6F82D07}"/>
              </a:ext>
            </a:extLst>
          </p:cNvPr>
          <p:cNvSpPr txBox="1"/>
          <p:nvPr/>
        </p:nvSpPr>
        <p:spPr>
          <a:xfrm>
            <a:off x="1269999" y="1691422"/>
            <a:ext cx="9652000" cy="2585323"/>
          </a:xfrm>
          <a:prstGeom prst="rect">
            <a:avLst/>
          </a:prstGeom>
          <a:noFill/>
        </p:spPr>
        <p:txBody>
          <a:bodyPr wrap="square">
            <a:spAutoFit/>
          </a:bodyPr>
          <a:lstStyle/>
          <a:p>
            <a:pPr>
              <a:buNone/>
            </a:pPr>
            <a:r>
              <a:rPr lang="en-US" dirty="0"/>
              <a:t>Our solution directly improves lives at every level. For patients, it means guidance in Punjabi or Hindi, fewer expensive trips, safer emergency support, and continuity of care through ABHA. For doctors, it reduces trivial walk-ins, organizes queues, and provides richer context before each visit. Pharmacies benefit from verified e-prescriptions, higher footfall, and even new delivery revenue. And for government, it brings real-time village-level health and stock data, helping decongest OPDs and enable faster outbreak response.</a:t>
            </a:r>
          </a:p>
          <a:p>
            <a:pPr>
              <a:buNone/>
            </a:pPr>
            <a:r>
              <a:rPr lang="en-US" dirty="0"/>
              <a:t>Beyond stakeholders, the wider benefits are clear — socially, timely care and empowerment in local languages; economically, less travel cost and wage loss; for public health, better outbreak detection and drug monitoring; and environmentally, fewer unnecessary trips mean a smaller carbon footprint.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609600" y="1200097"/>
            <a:ext cx="11176000" cy="3539430"/>
          </a:xfrm>
          <a:prstGeom prst="rect">
            <a:avLst/>
          </a:prstGeom>
          <a:noFill/>
          <a:ln w="9525">
            <a:noFill/>
            <a:miter lim="800000"/>
            <a:headEnd/>
            <a:tailEnd/>
          </a:ln>
        </p:spPr>
        <p:txBody>
          <a:bodyPr wrap="square">
            <a:spAutoFit/>
          </a:bodyPr>
          <a:lstStyle/>
          <a:p>
            <a:r>
              <a:rPr lang="en-US" sz="2800" dirty="0"/>
              <a:t>Our solution isn’t built in isolation — it stands on proven frameworks and guidelines. We follow the </a:t>
            </a:r>
            <a:r>
              <a:rPr lang="en-US" sz="2800" b="1" dirty="0"/>
              <a:t>Telemedicine Guidelines 2020</a:t>
            </a:r>
            <a:r>
              <a:rPr lang="en-US" sz="2800" dirty="0"/>
              <a:t> for safe consent and prescribing, and align with </a:t>
            </a:r>
            <a:r>
              <a:rPr lang="en-US" sz="2800" b="1" dirty="0"/>
              <a:t>ABDM and ABHA</a:t>
            </a:r>
            <a:r>
              <a:rPr lang="en-US" sz="2800" dirty="0"/>
              <a:t> for record portability. We complement </a:t>
            </a:r>
            <a:r>
              <a:rPr lang="en-US" sz="2800" b="1" dirty="0" err="1"/>
              <a:t>eSanjeevani</a:t>
            </a:r>
            <a:r>
              <a:rPr lang="en-US" sz="2800" dirty="0"/>
              <a:t>, extending its reach into offline-first rural contexts. Our offline design is shaped by </a:t>
            </a:r>
            <a:r>
              <a:rPr lang="en-US" sz="2800" b="1" dirty="0"/>
              <a:t>WHO rural toolkits</a:t>
            </a:r>
            <a:r>
              <a:rPr lang="en-US" sz="2800" dirty="0"/>
              <a:t>, and the community-assisted approach is inspired by </a:t>
            </a:r>
            <a:r>
              <a:rPr lang="en-US" sz="2800" b="1" dirty="0"/>
              <a:t>ASHA chatbot studies</a:t>
            </a:r>
            <a:r>
              <a:rPr lang="en-US" sz="2800" dirty="0"/>
              <a:t> in India.</a:t>
            </a:r>
          </a:p>
          <a:p>
            <a:r>
              <a:rPr lang="en-US" sz="2800" dirty="0"/>
              <a:t>The references and detailed research are available in our appendix, and you can also scan the QR on this slide to see our demo and documentation.</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6788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3" name="Round Diagonal Corner Rectangle 2"/>
          <p:cNvSpPr/>
          <p:nvPr/>
        </p:nvSpPr>
        <p:spPr>
          <a:xfrm>
            <a:off x="0" y="1791032"/>
            <a:ext cx="12192000" cy="4319200"/>
          </a:xfrm>
          <a:prstGeom prst="round2DiagRect">
            <a:avLst/>
          </a:prstGeom>
          <a:solidFill>
            <a:schemeClr val="accent1">
              <a:lumMod val="20000"/>
              <a:lumOff val="80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2" name="Google Shape;100;p3"/>
          <p:cNvSpPr txBox="1"/>
          <p:nvPr/>
        </p:nvSpPr>
        <p:spPr>
          <a:xfrm>
            <a:off x="367832" y="1915454"/>
            <a:ext cx="11764736" cy="4070356"/>
          </a:xfrm>
          <a:prstGeom prst="rect">
            <a:avLst/>
          </a:prstGeom>
          <a:noFill/>
          <a:ln>
            <a:noFill/>
          </a:ln>
        </p:spPr>
        <p:txBody>
          <a:bodyPr spcFirstLastPara="1" wrap="square" lIns="91425" tIns="45700" rIns="91425" bIns="45700" anchor="t" anchorCtr="0">
            <a:noAutofit/>
          </a:bodyPr>
          <a:lstStyle/>
          <a:p>
            <a:pPr marL="514350" marR="0" lvl="0" indent="-514350" algn="just" rtl="0">
              <a:lnSpc>
                <a:spcPct val="90000"/>
              </a:lnSpc>
              <a:spcBef>
                <a:spcPts val="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Kindly keep the maximum slides limit up to six </a:t>
            </a:r>
            <a:r>
              <a:rPr lang="en-US" b="1" i="0" u="none" strike="noStrike" cap="none" dirty="0">
                <a:solidFill>
                  <a:srgbClr val="C00000"/>
                </a:solidFill>
                <a:latin typeface="Arial" panose="020B0604020202020204" pitchFamily="34" charset="0"/>
                <a:ea typeface="Calibri"/>
                <a:cs typeface="Arial" panose="020B0604020202020204" pitchFamily="34" charset="0"/>
                <a:sym typeface="Calibri"/>
              </a:rPr>
              <a:t>(6). </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Including the </a:t>
            </a:r>
            <a:r>
              <a:rPr lang="en-US" b="1" i="0" u="none" strike="noStrike" cap="none">
                <a:solidFill>
                  <a:schemeClr val="dk1"/>
                </a:solidFill>
                <a:latin typeface="Arial" panose="020B0604020202020204" pitchFamily="34" charset="0"/>
                <a:ea typeface="Calibri"/>
                <a:cs typeface="Arial" panose="020B0604020202020204" pitchFamily="34" charset="0"/>
                <a:sym typeface="Calibri"/>
              </a:rPr>
              <a:t>title slide)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Try to avoid paragraphs and post your idea in points /diagrams / Infographics /pictures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Keep your explanation precise and easy to understand</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Idea should be unique and novel.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You can only use provided </a:t>
            </a:r>
            <a:r>
              <a:rPr lang="en-US" b="1" dirty="0">
                <a:solidFill>
                  <a:schemeClr val="dk1"/>
                </a:solidFill>
                <a:latin typeface="Arial" panose="020B0604020202020204" pitchFamily="34" charset="0"/>
                <a:ea typeface="Calibri"/>
                <a:cs typeface="Arial" panose="020B0604020202020204" pitchFamily="34" charset="0"/>
                <a:sym typeface="Calibri"/>
              </a:rPr>
              <a:t>template</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for making the </a:t>
            </a:r>
            <a:r>
              <a:rPr lang="en-US" b="1" dirty="0">
                <a:solidFill>
                  <a:schemeClr val="dk1"/>
                </a:solidFill>
                <a:latin typeface="Arial" panose="020B0604020202020204" pitchFamily="34" charset="0"/>
                <a:ea typeface="Calibri"/>
                <a:cs typeface="Arial" panose="020B0604020202020204" pitchFamily="34" charset="0"/>
                <a:sym typeface="Calibri"/>
              </a:rPr>
              <a:t>PPT</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without changing the idea details pointers (mentioned in previous slides).</a:t>
            </a:r>
            <a:endParaRPr b="1" i="0" u="none" strike="noStrike" cap="none" dirty="0">
              <a:solidFill>
                <a:schemeClr val="dk1"/>
              </a:solidFill>
              <a:latin typeface="Arial" panose="020B0604020202020204" pitchFamily="34" charset="0"/>
              <a:ea typeface="Calibri"/>
              <a:cs typeface="Arial" panose="020B0604020202020204" pitchFamily="34" charset="0"/>
              <a:sym typeface="Calibri"/>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You need to save the file in PDF and upload the same on portal. No PPT, Word Doc or any other format will be supported.</a:t>
            </a:r>
            <a:endParaRPr b="1" dirty="0">
              <a:latin typeface="Arial" panose="020B0604020202020204" pitchFamily="34" charset="0"/>
              <a:cs typeface="Arial" panose="020B0604020202020204" pitchFamily="34" charset="0"/>
            </a:endParaRPr>
          </a:p>
          <a:p>
            <a:pPr marL="514350" marR="0" lvl="0" indent="-349885" algn="just" rtl="0">
              <a:lnSpc>
                <a:spcPct val="90000"/>
              </a:lnSpc>
              <a:spcBef>
                <a:spcPts val="1000"/>
              </a:spcBef>
              <a:spcAft>
                <a:spcPts val="0"/>
              </a:spcAft>
              <a:buClr>
                <a:schemeClr val="dk1"/>
              </a:buClr>
              <a:buSzPct val="100000"/>
              <a:buFont typeface="Calibri"/>
              <a:buNone/>
            </a:pPr>
            <a:endParaRPr b="1" i="0" u="none" strike="noStrike" cap="none" dirty="0">
              <a:solidFill>
                <a:schemeClr val="dk1"/>
              </a:solidFill>
              <a:latin typeface="Arial" panose="020B0604020202020204" pitchFamily="34" charset="0"/>
              <a:ea typeface="Calibri"/>
              <a:cs typeface="Arial" panose="020B0604020202020204" pitchFamily="34" charset="0"/>
              <a:sym typeface="Calibri"/>
            </a:endParaRPr>
          </a:p>
          <a:p>
            <a:pPr marL="0" marR="0" lvl="0" indent="0" algn="just" rtl="0">
              <a:lnSpc>
                <a:spcPct val="90000"/>
              </a:lnSpc>
              <a:spcBef>
                <a:spcPts val="1000"/>
              </a:spcBef>
              <a:spcAft>
                <a:spcPts val="0"/>
              </a:spcAft>
              <a:buClr>
                <a:schemeClr val="dk1"/>
              </a:buClr>
              <a:buSzPct val="100000"/>
              <a:buFont typeface="Arial"/>
              <a:buNone/>
            </a:pPr>
            <a:r>
              <a:rPr lang="en-US" b="1" i="0" u="none" strike="noStrike" cap="none" dirty="0">
                <a:solidFill>
                  <a:srgbClr val="C00000"/>
                </a:solidFill>
                <a:latin typeface="Arial" panose="020B0604020202020204" pitchFamily="34" charset="0"/>
                <a:ea typeface="Calibri"/>
                <a:cs typeface="Arial" panose="020B0604020202020204" pitchFamily="34" charset="0"/>
                <a:sym typeface="Calibri"/>
              </a:rPr>
              <a:t>Note - You can delete this slide (Important Pointers) when you upload the details of your idea on SIH portal.</a:t>
            </a:r>
            <a:endParaRPr b="1" dirty="0">
              <a:solidFill>
                <a:srgbClr val="C00000"/>
              </a:solidFill>
              <a:latin typeface="Arial" panose="020B0604020202020204" pitchFamily="34" charset="0"/>
              <a:cs typeface="Arial" panose="020B0604020202020204" pitchFamily="34" charset="0"/>
            </a:endParaRPr>
          </a:p>
          <a:p>
            <a:pPr marL="914400" marR="0" lvl="1" indent="-316230" algn="just" rtl="0">
              <a:lnSpc>
                <a:spcPct val="90000"/>
              </a:lnSpc>
              <a:spcBef>
                <a:spcPts val="500"/>
              </a:spcBef>
              <a:spcAft>
                <a:spcPts val="0"/>
              </a:spcAft>
              <a:buClr>
                <a:schemeClr val="dk1"/>
              </a:buClr>
              <a:buSzPct val="100000"/>
              <a:buFont typeface="Calibri"/>
              <a:buNone/>
            </a:pPr>
            <a:endParaRPr sz="2000" b="1" i="0" u="none" strike="noStrike" cap="none" dirty="0">
              <a:solidFill>
                <a:schemeClr val="dk1"/>
              </a:solidFill>
              <a:latin typeface="Arial" panose="020B0604020202020204" pitchFamily="34" charset="0"/>
              <a:ea typeface="Calibri"/>
              <a:cs typeface="Arial" panose="020B0604020202020204" pitchFamily="34" charset="0"/>
              <a:sym typeface="Calibri"/>
            </a:endParaRPr>
          </a:p>
        </p:txBody>
      </p:sp>
      <p:sp>
        <p:nvSpPr>
          <p:cNvPr id="4" name="TextBox 3"/>
          <p:cNvSpPr txBox="1"/>
          <p:nvPr/>
        </p:nvSpPr>
        <p:spPr>
          <a:xfrm>
            <a:off x="1393371" y="107066"/>
            <a:ext cx="841054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IMPORTANT INSTRUCTIONS</a:t>
            </a:r>
            <a:endParaRPr lang="en-IN"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602343" y="1181900"/>
            <a:ext cx="9557657" cy="341632"/>
          </a:xfrm>
          <a:prstGeom prst="rect">
            <a:avLst/>
          </a:prstGeom>
          <a:noFill/>
        </p:spPr>
        <p:txBody>
          <a:bodyPr wrap="square" rtlCol="0">
            <a:spAutoFit/>
          </a:bodyPr>
          <a:lstStyle/>
          <a:p>
            <a:pPr algn="just">
              <a:lnSpc>
                <a:spcPct val="90000"/>
              </a:lnSpc>
              <a:spcBef>
                <a:spcPts val="1000"/>
              </a:spcBef>
              <a:spcAft>
                <a:spcPts val="0"/>
              </a:spcAft>
              <a:buClr>
                <a:schemeClr val="dk1"/>
              </a:buClr>
              <a:buSzPct val="100000"/>
            </a:pPr>
            <a:r>
              <a:rPr lang="en-US" b="1" dirty="0">
                <a:solidFill>
                  <a:schemeClr val="dk1"/>
                </a:solidFill>
                <a:latin typeface="Arial" panose="020B0604020202020204" pitchFamily="34" charset="0"/>
                <a:ea typeface="Calibri"/>
                <a:cs typeface="Arial" panose="020B0604020202020204" pitchFamily="34" charset="0"/>
              </a:rPr>
              <a:t>Please ensure below pointers are met while submitting the Idea PPT:</a:t>
            </a:r>
            <a:endParaRPr lang="en-IN" b="1" dirty="0">
              <a:solidFill>
                <a:schemeClr val="dk1"/>
              </a:solidFill>
              <a:latin typeface="Arial" panose="020B0604020202020204" pitchFamily="34" charset="0"/>
              <a:ea typeface="Calibri"/>
              <a:cs typeface="Arial" panose="020B0604020202020204" pitchFamily="34" charset="0"/>
            </a:endParaRPr>
          </a:p>
        </p:txBody>
      </p:sp>
      <p:pic>
        <p:nvPicPr>
          <p:cNvPr id="11"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8084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7821</TotalTime>
  <Words>1081</Words>
  <Application>Microsoft Office PowerPoint</Application>
  <PresentationFormat>Widescreen</PresentationFormat>
  <Paragraphs>81</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2025</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Aryan Kansal</cp:lastModifiedBy>
  <cp:revision>150</cp:revision>
  <dcterms:created xsi:type="dcterms:W3CDTF">2013-12-12T18:46:50Z</dcterms:created>
  <dcterms:modified xsi:type="dcterms:W3CDTF">2025-09-11T19:31:38Z</dcterms:modified>
  <cp:category/>
</cp:coreProperties>
</file>